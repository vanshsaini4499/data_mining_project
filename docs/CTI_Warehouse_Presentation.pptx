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rows/s</c:v>
                </c:pt>
              </c:strCache>
            </c:strRef>
          </c:tx>
          <c:spPr>
            <a:solidFill>
              <a:srgbClr val="14B8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1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Phase 2</c:v>
                  </c:pt>
                  <c:pt idx="1">
                    <c:v>Phase 7</c:v>
                  </c:pt>
                  <c:pt idx="2">
                    <c:v>Now (median)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604</c:v>
                </c:pt>
                <c:pt idx="1">
                  <c:v>899</c:v>
                </c:pt>
                <c:pt idx="2">
                  <c:v>2137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1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1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0E6E7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1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BENIGN</c:v>
                  </c:pt>
                  <c:pt idx="1">
                    <c:v>SQLI</c:v>
                  </c:pt>
                  <c:pt idx="2">
                    <c:v>XSS</c:v>
                  </c:pt>
                  <c:pt idx="3">
                    <c:v>PATH_TRAV</c:v>
                  </c:pt>
                  <c:pt idx="4">
                    <c:v>CMDI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0.9995</c:v>
                </c:pt>
                <c:pt idx="1">
                  <c:v>1</c:v>
                </c:pt>
                <c:pt idx="2">
                  <c:v>0.9854</c:v>
                </c:pt>
                <c:pt idx="3">
                  <c:v>0.9915</c:v>
                </c:pt>
                <c:pt idx="4">
                  <c:v>0.9412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621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1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CTI Warehouse: a cyber threat intelligence data warehouse built as a modular monolith. This talk walks through the pipeline, the machine learning, a live web-attack demo, and engineering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responsibilities. The key principle underneath everything: observed facts, model predictions, and analyst conclusions are never mixed — a strict rule throughout the schema, API, and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codebase, clear internal boundaries. Layering is enforced: routers call services, services call repositories or domain modules; domain code never reaches back into the API. Heavy work is offloaded to a worker.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stages feed the dashboard. Ingestion is idempotent — re-importing the same file never double-counts. Each stage writes to its own table so provenance is preserved.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Ingestion throughput more than doubled — from 899 to a median 2,137 rows per second — by using generic query plans for the per-row foreign-key checks and parallel chunk writers. Verified byte-identical output against the old loader.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independent classifiers. The network-flow one is the project's core; the web payload one powers the live demo. Both follow strict ML hygiene: leakage-aware splits, full metric reporting, and training recorded with seed, dataset hash, and versions.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 numbers on a held-out, template-grouped split of 6,210 rows. I deliberately include the honest caveats: the dataset is easy, and an out-of-distribution test shows the model does not generalise well — exactly the kind of truth-telling the project requires.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Anomaly mining and threat enrichment add two more evidence types. Both are carefully labelled as signals, not conclusions — an anomaly is merely unusual, and an indicator match merely means the value appears on a feed.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Correlation turns evidence into alerts using versioned, data-defined rules. The risk score is a transparent additive heuristic with a visible breakdown — never a black-box probability.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pipeline runs on one laptop with no deployment: a safe local target site, its access log followed live, scoring and alerting within seconds, and a live-refreshing dashboard. On a verified run, 50 requests produced 39 scored parameters and 3 correct alerts.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Quality is built in: a large passing test suite, reproducible training runs, migration-based schema control, RBAC and audit logging, and database least-privilege. These reflect the project's no-fabrication, no-placeholder discipline.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Stating limits plainly is part of the project's design. Nothing here is hidden: synthetic-only network model, untested Docker path, detection not prevention, and model bias toward training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close: a complete, honest CTI pipeline. Happy to take questions or run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0574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spc="300" kern="0" dirty="0">
                <a:solidFill>
                  <a:srgbClr val="14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46888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34340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377440"/>
            <a:ext cx="1828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rgbClr val="14B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38328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CTI Warehouse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931920"/>
            <a:ext cx="100584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097280"/>
            <a:ext cx="3291840" cy="3291840"/>
          </a:xfrm>
          <a:prstGeom prst="ellipse">
            <a:avLst/>
          </a:prstGeom>
          <a:solidFill>
            <a:srgbClr val="0E6E7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548640"/>
            <a:ext cx="2011680" cy="2011680"/>
          </a:xfrm>
          <a:prstGeom prst="ellipse">
            <a:avLst/>
          </a:prstGeom>
          <a:solidFill>
            <a:srgbClr val="14B8C4">
              <a:alpha val="45000"/>
            </a:srgbClr>
          </a:solidFill>
          <a:ln/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822960" y="20574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b="1" spc="300" kern="0" dirty="0">
                <a:solidFill>
                  <a:srgbClr val="14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INTELLIGENCE</a:t>
            </a:r>
            <a:endParaRPr lang="en-US" sz="16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822960" y="246888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CTI Warehouse</a:t>
            </a:r>
            <a:endParaRPr lang="en-US" sz="48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822960" y="434340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data-mining pipeline that ingests security events, classifies attacks, mines anomalies, correlates evidence into alerts, and presents it all through an investigation dashboard.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566928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0E6E7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5669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Project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54680" y="56692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F2D4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154680" y="5669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PostgreSQL · React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does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EAF1F3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64792"/>
            <a:ext cx="868680" cy="868680"/>
          </a:xfrm>
          <a:prstGeom prst="ellipse">
            <a:avLst/>
          </a:prstGeom>
          <a:solidFill>
            <a:srgbClr val="14B8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6479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7099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07568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store security events exactly as observed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50876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EAF1F3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764792"/>
            <a:ext cx="868680" cy="8686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176479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7099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207568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known attack patterns (supervised ML)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150876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EAF1F3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58200" y="1764792"/>
            <a:ext cx="868680" cy="868680"/>
          </a:xfrm>
          <a:prstGeom prst="ellipse">
            <a:avLst/>
          </a:prstGeom>
          <a:solidFill>
            <a:srgbClr val="3FA37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58200" y="176479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464040" y="17099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464040" y="207568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anomalous behaviour (unsupervised ML)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15468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EAF1F3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3410712"/>
            <a:ext cx="868680" cy="868680"/>
          </a:xfrm>
          <a:prstGeom prst="ellipse">
            <a:avLst/>
          </a:prstGeom>
          <a:solidFill>
            <a:srgbClr val="0E6E7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341071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874520" y="33558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Enrich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372160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threat indicators &amp; MITRE ATT&amp;CK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34840" y="315468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EAF1F3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410712"/>
            <a:ext cx="868680" cy="868680"/>
          </a:xfrm>
          <a:prstGeom prst="ellipse">
            <a:avLst/>
          </a:prstGeom>
          <a:solidFill>
            <a:srgbClr val="E2556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63440" y="341071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0" y="33558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0" y="372160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evidence into alerts with a risk score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0" y="315468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EAF1F3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58200" y="3410712"/>
            <a:ext cx="868680" cy="868680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458200" y="341071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464040" y="33558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464040" y="372160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dashboard, every number API-backed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 </a:t>
            </a:r>
            <a:pPr indent="0" marL="0">
              <a:buNone/>
            </a:pPr>
            <a:r>
              <a:rPr lang="en-US" sz="1350" i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≠ predictions ≠ analyst conclusions. Anomalies are not attacks, scores are not probabilities, and alerts are hypotheses — each is stored and labelled separately.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— a modular monolith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EAF1F3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554480"/>
            <a:ext cx="164592" cy="1051560"/>
          </a:xfrm>
          <a:prstGeom prst="roundRect">
            <a:avLst>
              <a:gd name="adj" fmla="val 27778"/>
            </a:avLst>
          </a:prstGeom>
          <a:solidFill>
            <a:srgbClr val="14B8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0992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/ TypeScript dashboard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1031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 · Recharts · talks to the backend only via one API client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761488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EAF1F3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761488"/>
            <a:ext cx="164592" cy="1051560"/>
          </a:xfrm>
          <a:prstGeom prst="roundRect">
            <a:avLst>
              <a:gd name="adj" fmla="val 27778"/>
            </a:avLst>
          </a:prstGeom>
          <a:solidFill>
            <a:srgbClr val="0E6E7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2916936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backend  (api → services → repositories / domain)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31012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hold no SQL or business logic; domain modules never import the API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968496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EAF1F3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968496"/>
            <a:ext cx="164592" cy="1051560"/>
          </a:xfrm>
          <a:prstGeom prst="roundRect">
            <a:avLst>
              <a:gd name="adj" fmla="val 27778"/>
            </a:avLst>
          </a:prstGeom>
          <a:solidFill>
            <a:srgbClr val="F2A9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12394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worker  (job queue)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5171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scoring, matching, correlation run as jobs — never inside a request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175504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EAF1F3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5175504"/>
            <a:ext cx="164592" cy="1051560"/>
          </a:xfrm>
          <a:prstGeom prst="roundRect">
            <a:avLst>
              <a:gd name="adj" fmla="val 27778"/>
            </a:avLst>
          </a:prstGeom>
          <a:solidFill>
            <a:srgbClr val="5B6B8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33095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warehouse  (star schema, partitioned, Alembic migrations)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72414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Facts, ground truth, model outputs, alerts — in separate tables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natively (local PostgreSQL, uv, npm). Docker Compose optional. No Kafka / Spark / microservices — a single deployable system.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data-mining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39012" y="2176272"/>
            <a:ext cx="768096" cy="768096"/>
          </a:xfrm>
          <a:prstGeom prst="ellipse">
            <a:avLst/>
          </a:prstGeom>
          <a:solidFill>
            <a:srgbClr val="14B8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39012" y="217627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37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adapters, validate,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normalise, dedup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24328" y="2724912"/>
            <a:ext cx="301752" cy="219456"/>
          </a:xfrm>
          <a:prstGeom prst="rightArrow">
            <a:avLst/>
          </a:prstGeom>
          <a:solidFill>
            <a:srgbClr val="5B6B8C"/>
          </a:solidFill>
          <a:ln/>
        </p:spPr>
      </p:sp>
      <p:sp>
        <p:nvSpPr>
          <p:cNvPr id="9" name="Shape 7"/>
          <p:cNvSpPr/>
          <p:nvPr/>
        </p:nvSpPr>
        <p:spPr>
          <a:xfrm>
            <a:off x="2944368" y="192024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43300" y="2176272"/>
            <a:ext cx="768096" cy="7680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43300" y="217627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035808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035808" y="3337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labels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28616" y="2724912"/>
            <a:ext cx="301752" cy="219456"/>
          </a:xfrm>
          <a:prstGeom prst="rightArrow">
            <a:avLst/>
          </a:prstGeom>
          <a:solidFill>
            <a:srgbClr val="5B6B8C"/>
          </a:solidFill>
          <a:ln/>
        </p:spPr>
      </p:sp>
      <p:sp>
        <p:nvSpPr>
          <p:cNvPr id="15" name="Shape 13"/>
          <p:cNvSpPr/>
          <p:nvPr/>
        </p:nvSpPr>
        <p:spPr>
          <a:xfrm>
            <a:off x="5248656" y="192024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47588" y="2176272"/>
            <a:ext cx="768096" cy="768096"/>
          </a:xfrm>
          <a:prstGeom prst="ellipse">
            <a:avLst/>
          </a:prstGeom>
          <a:solidFill>
            <a:srgbClr val="3FA3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847588" y="217627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340096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0096" y="3337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32904" y="2724912"/>
            <a:ext cx="301752" cy="219456"/>
          </a:xfrm>
          <a:prstGeom prst="rightArrow">
            <a:avLst/>
          </a:prstGeom>
          <a:solidFill>
            <a:srgbClr val="5B6B8C"/>
          </a:solidFill>
          <a:ln/>
        </p:spPr>
      </p:sp>
      <p:sp>
        <p:nvSpPr>
          <p:cNvPr id="21" name="Shape 19"/>
          <p:cNvSpPr/>
          <p:nvPr/>
        </p:nvSpPr>
        <p:spPr>
          <a:xfrm>
            <a:off x="7552944" y="192024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51876" y="2176272"/>
            <a:ext cx="768096" cy="768096"/>
          </a:xfrm>
          <a:prstGeom prst="ellipse">
            <a:avLst/>
          </a:prstGeom>
          <a:solidFill>
            <a:srgbClr val="0E6E7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51876" y="217627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7644384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Enrich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644384" y="3337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537192" y="2724912"/>
            <a:ext cx="301752" cy="219456"/>
          </a:xfrm>
          <a:prstGeom prst="rightArrow">
            <a:avLst/>
          </a:prstGeom>
          <a:solidFill>
            <a:srgbClr val="5B6B8C"/>
          </a:solidFill>
          <a:ln/>
        </p:spPr>
      </p:sp>
      <p:sp>
        <p:nvSpPr>
          <p:cNvPr id="27" name="Shape 25"/>
          <p:cNvSpPr/>
          <p:nvPr/>
        </p:nvSpPr>
        <p:spPr>
          <a:xfrm>
            <a:off x="9857232" y="192024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16213A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456164" y="2176272"/>
            <a:ext cx="768096" cy="768096"/>
          </a:xfrm>
          <a:prstGeom prst="ellipse">
            <a:avLst/>
          </a:prstGeom>
          <a:solidFill>
            <a:srgbClr val="E2556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456164" y="217627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9948672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948672" y="3337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4251960"/>
            <a:ext cx="10972800" cy="1463040"/>
          </a:xfrm>
          <a:prstGeom prst="roundRect">
            <a:avLst>
              <a:gd name="adj" fmla="val 5000"/>
            </a:avLst>
          </a:prstGeom>
          <a:solidFill>
            <a:srgbClr val="EAF1F3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914400" y="4434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 dashboard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914400" y="4892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· Events · Classification · Anomalies · Threat intel · Alerts · Cases · Models — every value drawn from a real API response, with honest empty states.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— fast, validated, idempotent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664208"/>
            <a:ext cx="146304" cy="146304"/>
          </a:xfrm>
          <a:prstGeom prst="ellipse">
            <a:avLst/>
          </a:prstGeom>
          <a:solidFill>
            <a:srgbClr val="14B8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600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 for canonical JSON, CSV, CIC-IDS2017, UNSW-NB15, and Nginx/Apache access logs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2505456"/>
            <a:ext cx="146304" cy="146304"/>
          </a:xfrm>
          <a:prstGeom prst="ellipse">
            <a:avLst/>
          </a:prstGeom>
          <a:solidFill>
            <a:srgbClr val="14B8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44144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validated &amp; normalised to canonical fields; bad rows rejected with a reason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3346704"/>
            <a:ext cx="146304" cy="146304"/>
          </a:xfrm>
          <a:prstGeom prst="ellipse">
            <a:avLst/>
          </a:prstGeom>
          <a:solidFill>
            <a:srgbClr val="14B8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28269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fingerprint dedup — re-importing a file creates no duplicates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4187952"/>
            <a:ext cx="146304" cy="146304"/>
          </a:xfrm>
          <a:prstGeom prst="ellipse">
            <a:avLst/>
          </a:prstGeom>
          <a:solidFill>
            <a:srgbClr val="14B8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412394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Resumable batches: parallel chunk writers that still commit in order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417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Throughput (rows / second)</a:t>
            </a:r>
            <a:endParaRPr lang="en-US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309360" y="1783080"/>
          <a:ext cx="53949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6309360" y="55321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NFR-03 target 2,000 rows/s — met at the median (one run 1,952). Measured on a 180,784-line synthetic file; not yet on UNSW-NB15.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classification — two models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EAF1F3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55448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2A9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45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Network-flow classifier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299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attack_classifier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" y="2761488"/>
            <a:ext cx="118872" cy="11887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0432" y="26974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network flows / events into attack categories (DoS, recon, brute force, web attack, …)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32688" y="3584448"/>
            <a:ext cx="118872" cy="11887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70432" y="35204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Leakage-aware grouped splits; preprocessing fit on train only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32688" y="4407408"/>
            <a:ext cx="118872" cy="11887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70432" y="43434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per-class precision/recall, macro-F1, weighted-F1, confusion matrix — never accuracy alone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32688" y="5230368"/>
            <a:ext cx="118872" cy="11887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70432" y="51663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synthetic data; public-dataset evaluation pending (dataset not present)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15544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EAF1F3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55448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14B8C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0" y="1645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payload classifier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0299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web_attack_classifier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01968" y="2761488"/>
            <a:ext cx="118872" cy="118872"/>
          </a:xfrm>
          <a:prstGeom prst="ellipse">
            <a:avLst/>
          </a:prstGeom>
          <a:solidFill>
            <a:srgbClr val="14B8C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39712" y="26974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one HTTP parameter value: BENIGN · SQLI · XSS · PATH_TRAVERSAL · CMDI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601968" y="3584448"/>
            <a:ext cx="118872" cy="118872"/>
          </a:xfrm>
          <a:prstGeom prst="ellipse">
            <a:avLst/>
          </a:prstGeom>
          <a:solidFill>
            <a:srgbClr val="14B8C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39712" y="35204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n-gram TF-IDF + logistic regression; template-grouped split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01968" y="4407408"/>
            <a:ext cx="118872" cy="118872"/>
          </a:xfrm>
          <a:prstGeom prst="ellipse">
            <a:avLst/>
          </a:prstGeom>
          <a:solidFill>
            <a:srgbClr val="14B8C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39712" y="43434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the public HTTPParamsDataset (real data)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01968" y="5230368"/>
            <a:ext cx="118872" cy="118872"/>
          </a:xfrm>
          <a:prstGeom prst="ellipse">
            <a:avLst/>
          </a:prstGeom>
          <a:solidFill>
            <a:srgbClr val="14B8C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39712" y="51663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task &amp; artifact — the two models never share inputs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payload classifier — measured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16213A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62763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B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0.9835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9572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macro-F1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70832" y="15087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16213A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462272" y="162763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A3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0.9992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462272" y="239572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weighted-F1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01584" y="15087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16213A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193024" y="1627632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6,210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193024" y="239572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rows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154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Per-class F1 (grouped held-out test split)</a:t>
            </a:r>
            <a:endParaRPr lang="en-US" sz="15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48640" y="3520440"/>
          <a:ext cx="66751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7498080" y="3246120"/>
            <a:ext cx="4114800" cy="2926080"/>
          </a:xfrm>
          <a:prstGeom prst="roundRect">
            <a:avLst>
              <a:gd name="adj" fmla="val 2500"/>
            </a:avLst>
          </a:prstGeom>
          <a:solidFill>
            <a:srgbClr val="EAF1F3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72668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reading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379476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clean and tool-generated, so near-perfect scores mean </a:t>
            </a:r>
            <a:pPr indent="0" marL="0">
              <a:buNone/>
            </a:pPr>
            <a:r>
              <a:rPr lang="en-US" sz="1250" b="1" i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“separable here,”</a:t>
            </a:r>
            <a:pPr indent="0" marL="0">
              <a:buNone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production accuracy.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7726680" y="480060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out-of-distribution check flagged only 39.6% of real code samples — the model generalises poorly beyond its training style. Scores are uncalibrated, not probabilities.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mining &amp; threat enrichment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EAF1F3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309360" y="155448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EAF1F3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5440680" cy="731520"/>
          </a:xfrm>
          <a:prstGeom prst="roundRect">
            <a:avLst>
              <a:gd name="adj" fmla="val 10000"/>
            </a:avLst>
          </a:prstGeom>
          <a:solidFill>
            <a:srgbClr val="3FA37A"/>
          </a:solidFill>
          <a:ln/>
        </p:spPr>
      </p:sp>
      <p:sp>
        <p:nvSpPr>
          <p:cNvPr id="6" name="Shape 4"/>
          <p:cNvSpPr/>
          <p:nvPr/>
        </p:nvSpPr>
        <p:spPr>
          <a:xfrm>
            <a:off x="6309360" y="155448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0E6E7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1691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detection  (unsupervised)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intelligence &amp; ATT&amp;CK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32688" y="2624328"/>
            <a:ext cx="128016" cy="128016"/>
          </a:xfrm>
          <a:prstGeom prst="ellipse">
            <a:avLst/>
          </a:prstGeom>
          <a:solidFill>
            <a:srgbClr val="3FA3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25603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per-entity windows (host / account / src IP)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2688" y="3447288"/>
            <a:ext cx="128016" cy="128016"/>
          </a:xfrm>
          <a:prstGeom prst="ellipse">
            <a:avLst/>
          </a:prstGeom>
          <a:solidFill>
            <a:srgbClr val="3FA37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88720" y="33832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and robust z-score methods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2688" y="4270248"/>
            <a:ext cx="128016" cy="128016"/>
          </a:xfrm>
          <a:prstGeom prst="ellipse">
            <a:avLst/>
          </a:prstGeom>
          <a:solidFill>
            <a:srgbClr val="3FA37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88720" y="42062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an anomaly score + percentile, not a verdict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32688" y="5093208"/>
            <a:ext cx="128016" cy="128016"/>
          </a:xfrm>
          <a:prstGeom prst="ellipse">
            <a:avLst/>
          </a:prstGeom>
          <a:solidFill>
            <a:srgbClr val="3FA37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88720" y="50292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“Anomalous” means unusual — explicitly not “malicious”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01968" y="2624328"/>
            <a:ext cx="128016" cy="128016"/>
          </a:xfrm>
          <a:prstGeom prst="ellipse">
            <a:avLst/>
          </a:prstGeom>
          <a:solidFill>
            <a:srgbClr val="0E6E7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0" y="25603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matching of events against threat-intel indicators (CSV / STIX 2.1)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01968" y="3447288"/>
            <a:ext cx="128016" cy="128016"/>
          </a:xfrm>
          <a:prstGeom prst="ellipse">
            <a:avLst/>
          </a:prstGeom>
          <a:solidFill>
            <a:srgbClr val="0E6E7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0" y="33832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carry reliability &amp; confidence; TAXII 2.1 polling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01968" y="4270248"/>
            <a:ext cx="128016" cy="128016"/>
          </a:xfrm>
          <a:prstGeom prst="ellipse">
            <a:avLst/>
          </a:prstGeom>
          <a:solidFill>
            <a:srgbClr val="0E6E7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0" y="42062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linked to MITRE ATT&amp;CK techniques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01968" y="5093208"/>
            <a:ext cx="128016" cy="128016"/>
          </a:xfrm>
          <a:prstGeom prst="ellipse">
            <a:avLst/>
          </a:prstGeom>
          <a:solidFill>
            <a:srgbClr val="0E6E7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0" y="50292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 means a value is on a list — not proof of compromise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→ alerts → transparent risk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EAF1F3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737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are data, not code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14400" y="2350008"/>
            <a:ext cx="128016" cy="128016"/>
          </a:xfrm>
          <a:prstGeom prst="ellipse">
            <a:avLst/>
          </a:prstGeom>
          <a:solidFill>
            <a:srgbClr val="E2556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22860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rules validated against a field/operator allow-list — no SQL, no regex, no eval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3264408"/>
            <a:ext cx="128016" cy="128016"/>
          </a:xfrm>
          <a:prstGeom prst="ellipse">
            <a:avLst/>
          </a:prstGeom>
          <a:solidFill>
            <a:srgbClr val="E2556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32004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types: events, classifications, anomalies, indicator matches, web-payload results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4178808"/>
            <a:ext cx="128016" cy="128016"/>
          </a:xfrm>
          <a:prstGeom prst="ellipse">
            <a:avLst/>
          </a:prstGeom>
          <a:solidFill>
            <a:srgbClr val="E2556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41148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≥ 2 attack-like HTTP parameters from one client within an hour → one alert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5093208"/>
            <a:ext cx="128016" cy="128016"/>
          </a:xfrm>
          <a:prstGeom prst="ellipse">
            <a:avLst/>
          </a:prstGeom>
          <a:solidFill>
            <a:srgbClr val="E255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88720" y="50292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are hypotheses for an analyst — deduplicated, never silently reopened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55448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16213A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83680" y="1737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risk_v1 — a transparent 0–100 score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103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Additive, explainable — not a probability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697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86800" y="2715768"/>
            <a:ext cx="2377440" cy="274320"/>
          </a:xfrm>
          <a:prstGeom prst="roundRect">
            <a:avLst>
              <a:gd name="adj" fmla="val 10000"/>
            </a:avLst>
          </a:prstGeom>
          <a:solidFill>
            <a:srgbClr val="2A3A5C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0" y="2715768"/>
            <a:ext cx="2377440" cy="274320"/>
          </a:xfrm>
          <a:prstGeom prst="roundRect">
            <a:avLst>
              <a:gd name="adj" fmla="val 10000"/>
            </a:avLst>
          </a:prstGeom>
          <a:solidFill>
            <a:srgbClr val="F2A93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155680" y="2697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30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32644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686800" y="3282696"/>
            <a:ext cx="2377440" cy="274320"/>
          </a:xfrm>
          <a:prstGeom prst="roundRect">
            <a:avLst>
              <a:gd name="adj" fmla="val 10000"/>
            </a:avLst>
          </a:prstGeom>
          <a:solidFill>
            <a:srgbClr val="2A3A5C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0" y="3282696"/>
            <a:ext cx="2377440" cy="274320"/>
          </a:xfrm>
          <a:prstGeom prst="roundRect">
            <a:avLst>
              <a:gd name="adj" fmla="val 10000"/>
            </a:avLst>
          </a:prstGeom>
          <a:solidFill>
            <a:srgbClr val="0E6E7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1155680" y="32644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30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38313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686800" y="3849624"/>
            <a:ext cx="2377440" cy="274320"/>
          </a:xfrm>
          <a:prstGeom prst="roundRect">
            <a:avLst>
              <a:gd name="adj" fmla="val 10000"/>
            </a:avLst>
          </a:prstGeom>
          <a:solidFill>
            <a:srgbClr val="2A3A5C"/>
          </a:solidFill>
          <a:ln/>
        </p:spPr>
      </p:sp>
      <p:sp>
        <p:nvSpPr>
          <p:cNvPr id="26" name="Shape 24"/>
          <p:cNvSpPr/>
          <p:nvPr/>
        </p:nvSpPr>
        <p:spPr>
          <a:xfrm>
            <a:off x="8686800" y="3849624"/>
            <a:ext cx="1584960" cy="274320"/>
          </a:xfrm>
          <a:prstGeom prst="roundRect">
            <a:avLst>
              <a:gd name="adj" fmla="val 10000"/>
            </a:avLst>
          </a:prstGeom>
          <a:solidFill>
            <a:srgbClr val="3FA37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1155680" y="38313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20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439826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686800" y="4416552"/>
            <a:ext cx="2377440" cy="274320"/>
          </a:xfrm>
          <a:prstGeom prst="roundRect">
            <a:avLst>
              <a:gd name="adj" fmla="val 10000"/>
            </a:avLst>
          </a:prstGeom>
          <a:solidFill>
            <a:srgbClr val="2A3A5C"/>
          </a:solidFill>
          <a:ln/>
        </p:spPr>
      </p:sp>
      <p:sp>
        <p:nvSpPr>
          <p:cNvPr id="30" name="Shape 28"/>
          <p:cNvSpPr/>
          <p:nvPr/>
        </p:nvSpPr>
        <p:spPr>
          <a:xfrm>
            <a:off x="8686800" y="4416552"/>
            <a:ext cx="792480" cy="274320"/>
          </a:xfrm>
          <a:prstGeom prst="roundRect">
            <a:avLst>
              <a:gd name="adj" fmla="val 10000"/>
            </a:avLst>
          </a:prstGeom>
          <a:solidFill>
            <a:srgbClr val="14B8C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1155680" y="43982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10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0" y="49651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severity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686800" y="4983480"/>
            <a:ext cx="2377440" cy="274320"/>
          </a:xfrm>
          <a:prstGeom prst="roundRect">
            <a:avLst>
              <a:gd name="adj" fmla="val 10000"/>
            </a:avLst>
          </a:prstGeom>
          <a:solidFill>
            <a:srgbClr val="2A3A5C"/>
          </a:solidFill>
          <a:ln/>
        </p:spPr>
      </p:sp>
      <p:sp>
        <p:nvSpPr>
          <p:cNvPr id="34" name="Shape 32"/>
          <p:cNvSpPr/>
          <p:nvPr/>
        </p:nvSpPr>
        <p:spPr>
          <a:xfrm>
            <a:off x="8686800" y="4983480"/>
            <a:ext cx="792480" cy="274320"/>
          </a:xfrm>
          <a:prstGeom prst="roundRect">
            <a:avLst>
              <a:gd name="adj" fmla="val 10000"/>
            </a:avLst>
          </a:prstGeom>
          <a:solidFill>
            <a:srgbClr val="E2556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1155680" y="49651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10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0" y="5532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shows this breakdown so an analyst sees exactly why a score is what it is.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web attacks, end to end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EAF1F3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site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214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echo target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(safe, never executes)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118104" y="2194560"/>
            <a:ext cx="256032" cy="182880"/>
          </a:xfrm>
          <a:prstGeom prst="rightArrow">
            <a:avLst/>
          </a:prstGeom>
          <a:solidFill>
            <a:srgbClr val="5B6B8C"/>
          </a:solidFill>
          <a:ln/>
        </p:spPr>
      </p:sp>
      <p:sp>
        <p:nvSpPr>
          <p:cNvPr id="7" name="Shape 5"/>
          <p:cNvSpPr/>
          <p:nvPr/>
        </p:nvSpPr>
        <p:spPr>
          <a:xfrm>
            <a:off x="3383280" y="155448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EAF1F3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2044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log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1214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request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to a log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61304" y="2194560"/>
            <a:ext cx="256032" cy="182880"/>
          </a:xfrm>
          <a:prstGeom prst="rightArrow">
            <a:avLst/>
          </a:prstGeom>
          <a:solidFill>
            <a:srgbClr val="5B6B8C"/>
          </a:solidFill>
          <a:ln/>
        </p:spPr>
      </p:sp>
      <p:sp>
        <p:nvSpPr>
          <p:cNvPr id="11" name="Shape 9"/>
          <p:cNvSpPr/>
          <p:nvPr/>
        </p:nvSpPr>
        <p:spPr>
          <a:xfrm>
            <a:off x="6126480" y="155448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EAF1F3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6364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tail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1214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lines ingested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few seconds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04504" y="2194560"/>
            <a:ext cx="256032" cy="182880"/>
          </a:xfrm>
          <a:prstGeom prst="rightArrow">
            <a:avLst/>
          </a:prstGeom>
          <a:solidFill>
            <a:srgbClr val="5B6B8C"/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155448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EAF1F3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00684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+ alert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212140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params,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alerts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4290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6213A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31520" y="356616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4B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6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37083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sent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70832" y="34290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6213A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462272" y="356616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4600" dirty="0"/>
          </a:p>
        </p:txBody>
      </p:sp>
      <p:sp>
        <p:nvSpPr>
          <p:cNvPr id="23" name="Text 21"/>
          <p:cNvSpPr txBox="1"/>
          <p:nvPr/>
        </p:nvSpPr>
        <p:spPr>
          <a:xfrm>
            <a:off x="4462272" y="437083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scored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01584" y="34290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6213A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193024" y="356616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2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26" name="Text 24"/>
          <p:cNvSpPr txBox="1"/>
          <p:nvPr/>
        </p:nvSpPr>
        <p:spPr>
          <a:xfrm>
            <a:off x="8193024" y="437083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raised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1206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run:  </a:t>
            </a:r>
            <a:pPr indent="0" marL="0">
              <a:buNone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planted payloads were classified SQLI, XSS, PATH_TRAVERSAL and CMDI, and each attacking client produced one alert — nobody else did. A dashboard “Live” toggle refreshes the view every 10 seconds.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quality &amp; security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AF1F3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B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558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 passing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70832" y="15087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AF1F3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462272" y="160020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A3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462272" y="23774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tests passing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01584" y="15087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AF1F3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193024" y="160020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193024" y="23774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phases delivered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146304" cy="146304"/>
          </a:xfrm>
          <a:prstGeom prst="ellipse">
            <a:avLst/>
          </a:prstGeom>
          <a:solidFill>
            <a:srgbClr val="0E6E7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32004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ML  —  </a:t>
            </a:r>
            <a:pPr indent="0" marL="0">
              <a:buNone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training run records seed, dataset hash, feature &amp; label versions, library and code versions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1520" y="3831336"/>
            <a:ext cx="146304" cy="146304"/>
          </a:xfrm>
          <a:prstGeom prst="ellipse">
            <a:avLst/>
          </a:prstGeom>
          <a:solidFill>
            <a:srgbClr val="0E6E7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3785616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via migrations  —  </a:t>
            </a:r>
            <a:pPr indent="0" marL="0">
              <a:buNone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changes through Alembic; upgrades &amp; downgrades tested on empty and prior-head databases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" y="4416552"/>
            <a:ext cx="146304" cy="146304"/>
          </a:xfrm>
          <a:prstGeom prst="ellipse">
            <a:avLst/>
          </a:prstGeom>
          <a:solidFill>
            <a:srgbClr val="0E6E7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5840" y="437083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  —  </a:t>
            </a:r>
            <a:pPr indent="0" marL="0">
              <a:buNone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on every endpoint, parameterised SQL only, size-limited uploads, audit log on every change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31520" y="5001768"/>
            <a:ext cx="146304" cy="146304"/>
          </a:xfrm>
          <a:prstGeom prst="ellipse">
            <a:avLst/>
          </a:prstGeom>
          <a:solidFill>
            <a:srgbClr val="0E6E7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" y="495604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DB  —  </a:t>
            </a:r>
            <a:pPr indent="0" marL="0">
              <a:buNone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migration-owner vs. DML-only app role; privileged ops behind SECURITY DEFINER functions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31520" y="5586984"/>
            <a:ext cx="146304" cy="146304"/>
          </a:xfrm>
          <a:prstGeom prst="ellipse">
            <a:avLst/>
          </a:prstGeom>
          <a:solidFill>
            <a:srgbClr val="0E6E7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554126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dashboard  —  </a:t>
            </a:r>
            <a:pPr indent="0" marL="0">
              <a:buNone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comes from a real API response; empty data shows an honest empty state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EAF1F3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600200"/>
            <a:ext cx="5440680" cy="658368"/>
          </a:xfrm>
          <a:prstGeom prst="roundRect">
            <a:avLst>
              <a:gd name="adj" fmla="val 11111"/>
            </a:avLst>
          </a:prstGeom>
          <a:solidFill>
            <a:srgbClr val="F2A9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1907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datasets not yet run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231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network-flow classifier is trained on synthetic data; UNSW-NB15 / CIC-IDS2017 evaluation is pending download.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EAF1F3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63640" y="1600200"/>
            <a:ext cx="5440680" cy="658368"/>
          </a:xfrm>
          <a:prstGeom prst="roundRect">
            <a:avLst>
              <a:gd name="adj" fmla="val 11111"/>
            </a:avLst>
          </a:prstGeom>
          <a:solidFill>
            <a:srgbClr val="5B6B8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171907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path not exercised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4231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natively and is fully tested that way; the optional Docker Compose path has not been run here.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EAF1F3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840480"/>
            <a:ext cx="5440680" cy="658368"/>
          </a:xfrm>
          <a:prstGeom prst="roundRect">
            <a:avLst>
              <a:gd name="adj" fmla="val 11111"/>
            </a:avLst>
          </a:prstGeom>
          <a:solidFill>
            <a:srgbClr val="E2556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95935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Detection, not prevention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66344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flags and scores — it never blocks traffic. Alerts are hypotheses for a human analyst.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38404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EAF1F3"/>
          </a:solidFill>
          <a:ln/>
          <a:effectLst>
            <a:outerShdw sx="100000" sy="100000" kx="0" ky="0" algn="bl" rotWithShape="0" blurRad="76200" dist="25400" dir="5400000">
              <a:srgbClr val="9AA7B8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3840480"/>
            <a:ext cx="5440680" cy="658368"/>
          </a:xfrm>
          <a:prstGeom prst="roundRect">
            <a:avLst>
              <a:gd name="adj" fmla="val 11111"/>
            </a:avLst>
          </a:prstGeom>
          <a:solidFill>
            <a:srgbClr val="0E6E7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37960" y="395935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reflect their data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66344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false positives on unusual but legitimate input; analyst feedback is captured but never overwrites a prediction.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572000"/>
            <a:ext cx="3291840" cy="3291840"/>
          </a:xfrm>
          <a:prstGeom prst="ellipse">
            <a:avLst/>
          </a:prstGeom>
          <a:solidFill>
            <a:srgbClr val="0E6E7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-731520"/>
            <a:ext cx="2377440" cy="2377440"/>
          </a:xfrm>
          <a:prstGeom prst="ellipse">
            <a:avLst/>
          </a:prstGeom>
          <a:solidFill>
            <a:srgbClr val="14B8C4">
              <a:alpha val="30000"/>
            </a:srgbClr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pipeline you can trust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822960" y="3931920"/>
            <a:ext cx="10058400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→ classify → mine → enrich → correlate → present — end to end, tested, and demonstrable live.
</a:t>
            </a:r>
            <a:pPr algn="l" indent="0" marL="0">
              <a:buNone/>
            </a:pPr>
            <a:r>
              <a:rPr lang="en-US" sz="1800" b="1" dirty="0">
                <a:solidFill>
                  <a:srgbClr val="14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defining quality is honesty: </a:t>
            </a:r>
            <a:pPr algn="l" indent="0" marL="0">
              <a:buNone/>
            </a:pPr>
            <a:r>
              <a:rPr lang="en-US" sz="18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facts, predictions, and conclusions stay separate, every dashboard number is real, and the limitations are stated out loud.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576072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0E6E7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5760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03320" y="5760720"/>
            <a:ext cx="4206240" cy="457200"/>
          </a:xfrm>
          <a:prstGeom prst="roundRect">
            <a:avLst>
              <a:gd name="adj" fmla="val 20000"/>
            </a:avLst>
          </a:prstGeom>
          <a:solidFill>
            <a:srgbClr val="1F2D4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703320" y="5760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TIWarehouse">
  <a:themeElements>
    <a:clrScheme name="CTIWarehouse">
      <a:dk1>
        <a:srgbClr val="16213A"/>
      </a:dk1>
      <a:lt1>
        <a:srgbClr val="FFFFFF"/>
      </a:lt1>
      <a:dk2>
        <a:srgbClr val="0E6E78"/>
      </a:dk2>
      <a:lt2>
        <a:srgbClr val="EAF1F3"/>
      </a:lt2>
      <a:accent1>
        <a:srgbClr val="14B8C4"/>
      </a:accent1>
      <a:accent2>
        <a:srgbClr val="F2A93B"/>
      </a:accent2>
      <a:accent3>
        <a:srgbClr val="E25563"/>
      </a:accent3>
      <a:accent4>
        <a:srgbClr val="3FA37A"/>
      </a:accent4>
      <a:accent5>
        <a:srgbClr val="5B6B8C"/>
      </a:accent5>
      <a:accent6>
        <a:srgbClr val="8E5BD6"/>
      </a:accent6>
      <a:hlink>
        <a:srgbClr val="14B8C4"/>
      </a:hlink>
      <a:folHlink>
        <a:srgbClr val="8E5BD6"/>
      </a:folHlink>
    </a:clrScheme>
    <a:fontScheme name="CTIWarehou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CTI Warehouse</dc:title>
  <dc:subject>PptxGenJS Presentation</dc:subject>
  <dc:creator>CTI Warehouse</dc:creator>
  <cp:lastModifiedBy>CTI Warehouse</cp:lastModifiedBy>
  <cp:revision>1</cp:revision>
  <dcterms:created xsi:type="dcterms:W3CDTF">2026-10-18T13:18:45Z</dcterms:created>
  <dcterms:modified xsi:type="dcterms:W3CDTF">2026-10-18T13:18:45Z</dcterms:modified>
</cp:coreProperties>
</file>